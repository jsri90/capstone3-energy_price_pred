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2.jpeg" ContentType="image/jpeg"/>
  <Override PartName="/ppt/theme/theme2.xml" ContentType="application/vnd.openxmlformats-officedocument.theme+xml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4D4D4D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4D4D4D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4D4D4D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4D4D4D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4D4D4D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4D4D4D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4D4D4D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4D4D4D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4D4D4D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4D4D4D"/>
        </a:fontRef>
        <a:srgbClr val="4D4D4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D4D4D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Ref idx="minor">
          <a:srgbClr val="4D4D4D"/>
        </a:fontRef>
        <a:srgbClr val="4D4D4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D4D4D">
              <a:alpha val="20000"/>
            </a:srgbClr>
          </a:solidFill>
        </a:fill>
      </a:tcStyle>
    </a:firstCol>
    <a:lastRow>
      <a:tcTxStyle b="on" i="off">
        <a:fontRef idx="minor">
          <a:srgbClr val="4D4D4D"/>
        </a:fontRef>
        <a:srgbClr val="4D4D4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round/>
            </a:ln>
          </a:top>
          <a:bottom>
            <a:ln w="12700" cap="flat">
              <a:solidFill>
                <a:srgbClr val="4D4D4D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4D4D4D"/>
        </a:fontRef>
        <a:srgbClr val="4D4D4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round/>
            </a:ln>
          </a:top>
          <a:bottom>
            <a:ln w="12700" cap="flat">
              <a:solidFill>
                <a:srgbClr val="4D4D4D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4D4D4D"/>
        </a:fontRef>
        <a:srgbClr val="4D4D4D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EBD1CA"/>
          </a:solidFill>
        </a:fill>
      </a:tcStyle>
    </a:wholeTbl>
    <a:band2H>
      <a:tcTxStyle b="def" i="def"/>
      <a:tcStyle>
        <a:tcBdr/>
        <a:fill>
          <a:solidFill>
            <a:srgbClr val="F5E9E6"/>
          </a:solidFill>
        </a:fill>
      </a:tcStyle>
    </a:band2H>
    <a:firstCol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4D4D4D"/>
        </a:fontRef>
        <a:srgbClr val="4D4D4D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 b="def" i="def"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4D4D4D"/>
        </a:fontRef>
        <a:srgbClr val="4D4D4D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F5E8CA"/>
          </a:solidFill>
        </a:fill>
      </a:tcStyle>
    </a:wholeTbl>
    <a:band2H>
      <a:tcTxStyle b="def" i="def"/>
      <a:tcStyle>
        <a:tcBdr/>
        <a:fill>
          <a:solidFill>
            <a:srgbClr val="FAF4E6"/>
          </a:solidFill>
        </a:fill>
      </a:tcStyle>
    </a:band2H>
    <a:firstCol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4D4D4D"/>
        </a:fontRef>
        <a:srgbClr val="4D4D4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8E8"/>
          </a:solidFill>
        </a:fill>
      </a:tcStyle>
    </a:wholeTbl>
    <a:band2H>
      <a:tcTxStyle b="def" i="def"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4D4D4D"/>
        </a:fontRef>
        <a:srgbClr val="4D4D4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4D4D4D"/>
              </a:solidFill>
              <a:prstDash val="solid"/>
              <a:round/>
            </a:ln>
          </a:top>
          <a:bottom>
            <a:ln w="25400" cap="flat">
              <a:solidFill>
                <a:srgbClr val="4D4D4D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4D4D4D"/>
              </a:solidFill>
              <a:prstDash val="solid"/>
              <a:round/>
            </a:ln>
          </a:top>
          <a:bottom>
            <a:ln w="25400" cap="flat">
              <a:solidFill>
                <a:srgbClr val="4D4D4D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4D4D4D"/>
        </a:fontRef>
        <a:srgbClr val="4D4D4D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FCFCF"/>
          </a:solidFill>
        </a:fill>
      </a:tcStyle>
    </a:wholeTbl>
    <a:band2H>
      <a:tcTxStyle b="def" i="def"/>
      <a:tcStyle>
        <a:tcBdr/>
        <a:fill>
          <a:solidFill>
            <a:srgbClr val="E8E8E8"/>
          </a:solidFill>
        </a:fill>
      </a:tcStyle>
    </a:band2H>
    <a:firstCol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4D4D4D"/>
          </a:solidFill>
        </a:fill>
      </a:tcStyle>
    </a:firstCol>
    <a:lastRow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4D4D4D"/>
          </a:solidFill>
        </a:fill>
      </a:tcStyle>
    </a:lastRow>
    <a:firstRow>
      <a:tcTxStyle b="on" i="off">
        <a:fontRef idx="min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4D4D4D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3" name="Shape 11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11187" y="309563"/>
            <a:ext cx="5903914" cy="1109663"/>
          </a:xfrm>
          <a:prstGeom prst="rect">
            <a:avLst/>
          </a:prstGeom>
          <a:effectLst>
            <a:outerShdw sx="100000" sy="100000" kx="0" ky="0" algn="b" rotWithShape="0" blurRad="0" dist="17961" dir="2700000">
              <a:srgbClr val="9B6902"/>
            </a:outerShdw>
          </a:effectLst>
        </p:spPr>
        <p:txBody>
          <a:bodyPr/>
          <a:lstStyle>
            <a:lvl1pPr algn="l"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611187" y="1196975"/>
            <a:ext cx="5903914" cy="696913"/>
          </a:xfrm>
          <a:prstGeom prst="rect">
            <a:avLst/>
          </a:prstGeom>
          <a:effectLst>
            <a:outerShdw sx="100000" sy="100000" kx="0" ky="0" algn="b" rotWithShape="0" blurRad="0" dist="17961" dir="2700000">
              <a:srgbClr val="9B6902"/>
            </a:outerShdw>
          </a:effectLst>
        </p:spPr>
        <p:txBody>
          <a:bodyPr/>
          <a:lstStyle>
            <a:lvl1pPr marL="406400" indent="-355600">
              <a:spcBef>
                <a:spcPts val="400"/>
              </a:spcBef>
              <a:buClrTx/>
              <a:buSzTx/>
              <a:buFontTx/>
              <a:buNone/>
              <a:defRPr b="1" sz="2400"/>
            </a:lvl1pPr>
            <a:lvl2pPr marL="914400" indent="-381000">
              <a:spcBef>
                <a:spcPts val="400"/>
              </a:spcBef>
              <a:buClrTx/>
              <a:buSzPts val="2400"/>
              <a:buFontTx/>
              <a:defRPr b="1" sz="2400"/>
            </a:lvl2pPr>
            <a:lvl3pPr marL="1371600" indent="-381000">
              <a:spcBef>
                <a:spcPts val="400"/>
              </a:spcBef>
              <a:buClrTx/>
              <a:buSzPts val="2400"/>
              <a:buFontTx/>
              <a:defRPr b="1" sz="2400"/>
            </a:lvl3pPr>
            <a:lvl4pPr marL="1899920" indent="-426720">
              <a:spcBef>
                <a:spcPts val="400"/>
              </a:spcBef>
              <a:buClrTx/>
              <a:buSzPts val="2400"/>
              <a:buFontTx/>
              <a:defRPr b="1" sz="2400"/>
            </a:lvl4pPr>
            <a:lvl5pPr marL="2357120" indent="-426720">
              <a:spcBef>
                <a:spcPts val="400"/>
              </a:spcBef>
              <a:buClrTx/>
              <a:buSzPts val="2400"/>
              <a:buFontTx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400"/>
              </a:spcBef>
              <a:buClrTx/>
              <a:buSzTx/>
              <a:buFontTx/>
              <a:buNone/>
              <a:defRPr sz="2000"/>
            </a:lvl1pPr>
            <a:lvl2pPr marL="228600" indent="457200">
              <a:spcBef>
                <a:spcPts val="400"/>
              </a:spcBef>
              <a:buClrTx/>
              <a:buSzTx/>
              <a:buFontTx/>
              <a:buNone/>
              <a:defRPr sz="2000"/>
            </a:lvl2pPr>
            <a:lvl3pPr marL="228600" indent="914400">
              <a:spcBef>
                <a:spcPts val="400"/>
              </a:spcBef>
              <a:buClrTx/>
              <a:buSzTx/>
              <a:buFontTx/>
              <a:buNone/>
              <a:defRPr sz="2000"/>
            </a:lvl3pPr>
            <a:lvl4pPr marL="228600" indent="1371600">
              <a:spcBef>
                <a:spcPts val="400"/>
              </a:spcBef>
              <a:buClrTx/>
              <a:buSzTx/>
              <a:buFontTx/>
              <a:buNone/>
              <a:defRPr sz="2000"/>
            </a:lvl4pPr>
            <a:lvl5pPr marL="228600" indent="1828800">
              <a:spcBef>
                <a:spcPts val="400"/>
              </a:spcBef>
              <a:buClrTx/>
              <a:buSzTx/>
              <a:buFontTx/>
              <a:buNone/>
              <a:defRPr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611187" y="692150"/>
            <a:ext cx="3632201" cy="5111750"/>
          </a:xfrm>
          <a:prstGeom prst="rect">
            <a:avLst/>
          </a:prstGeom>
        </p:spPr>
        <p:txBody>
          <a:bodyPr/>
          <a:lstStyle>
            <a:lvl1pPr indent="-406400">
              <a:spcBef>
                <a:spcPts val="500"/>
              </a:spcBef>
            </a:lvl1pPr>
            <a:lvl2pPr marL="977900" indent="-444500">
              <a:spcBef>
                <a:spcPts val="500"/>
              </a:spcBef>
            </a:lvl2pPr>
            <a:lvl3pPr marL="1513839" indent="-497839">
              <a:spcBef>
                <a:spcPts val="500"/>
              </a:spcBef>
            </a:lvl3pPr>
            <a:lvl4pPr marL="2019300" indent="-533400">
              <a:spcBef>
                <a:spcPts val="500"/>
              </a:spcBef>
            </a:lvl4pPr>
            <a:lvl5pPr marL="2476500" indent="-533400">
              <a:spcBef>
                <a:spcPts val="5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Google Shape;24;p5"/>
          <p:cNvSpPr txBox="1"/>
          <p:nvPr>
            <p:ph type="body" sz="half" idx="21"/>
          </p:nvPr>
        </p:nvSpPr>
        <p:spPr>
          <a:xfrm>
            <a:off x="4395787" y="692150"/>
            <a:ext cx="3632201" cy="5111750"/>
          </a:xfrm>
          <a:prstGeom prst="rect">
            <a:avLst/>
          </a:prstGeom>
        </p:spPr>
        <p:txBody>
          <a:bodyPr/>
          <a:lstStyle/>
          <a:p>
            <a:pPr indent="-406400">
              <a:spcBef>
                <a:spcPts val="500"/>
              </a:spcBef>
            </a:pP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400"/>
              </a:spcBef>
              <a:buClrTx/>
              <a:buSzTx/>
              <a:buFontTx/>
              <a:buNone/>
              <a:defRPr b="1" sz="2400"/>
            </a:lvl1pPr>
            <a:lvl2pPr marL="228600" indent="457200">
              <a:spcBef>
                <a:spcPts val="400"/>
              </a:spcBef>
              <a:buClrTx/>
              <a:buSzTx/>
              <a:buFontTx/>
              <a:buNone/>
              <a:defRPr b="1" sz="2400"/>
            </a:lvl2pPr>
            <a:lvl3pPr marL="228600" indent="914400">
              <a:spcBef>
                <a:spcPts val="400"/>
              </a:spcBef>
              <a:buClrTx/>
              <a:buSzTx/>
              <a:buFontTx/>
              <a:buNone/>
              <a:defRPr b="1" sz="2400"/>
            </a:lvl3pPr>
            <a:lvl4pPr marL="228600" indent="1371600">
              <a:spcBef>
                <a:spcPts val="400"/>
              </a:spcBef>
              <a:buClrTx/>
              <a:buSzTx/>
              <a:buFontTx/>
              <a:buNone/>
              <a:defRPr b="1" sz="2400"/>
            </a:lvl4pPr>
            <a:lvl5pPr marL="228600" indent="1828800">
              <a:spcBef>
                <a:spcPts val="400"/>
              </a:spcBef>
              <a:buClrTx/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Google Shape;28;p6"/>
          <p:cNvSpPr txBox="1"/>
          <p:nvPr>
            <p:ph type="body" sz="half" idx="21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/>
          <a:p>
            <a:pPr indent="-381000">
              <a:spcBef>
                <a:spcPts val="400"/>
              </a:spcBef>
              <a:buSzPts val="2400"/>
              <a:defRPr sz="2400"/>
            </a:pPr>
          </a:p>
        </p:txBody>
      </p:sp>
      <p:sp>
        <p:nvSpPr>
          <p:cNvPr id="51" name="Google Shape;29;p6"/>
          <p:cNvSpPr txBox="1"/>
          <p:nvPr>
            <p:ph type="body" sz="quarter" idx="22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228600" indent="0">
              <a:spcBef>
                <a:spcPts val="400"/>
              </a:spcBef>
              <a:buClrTx/>
              <a:buSzTx/>
              <a:buFontTx/>
              <a:buNone/>
              <a:defRPr b="1" sz="2400"/>
            </a:pPr>
          </a:p>
        </p:txBody>
      </p:sp>
      <p:sp>
        <p:nvSpPr>
          <p:cNvPr id="52" name="Google Shape;30;p6"/>
          <p:cNvSpPr txBox="1"/>
          <p:nvPr>
            <p:ph type="body" sz="half" idx="23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/>
          <a:p>
            <a:pPr indent="-381000">
              <a:spcBef>
                <a:spcPts val="400"/>
              </a:spcBef>
              <a:buSzPts val="2400"/>
              <a:defRPr sz="2400"/>
            </a:pP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 indent="-431800">
              <a:spcBef>
                <a:spcPts val="600"/>
              </a:spcBef>
              <a:buSzPts val="3200"/>
              <a:defRPr sz="3200"/>
            </a:lvl1pPr>
            <a:lvl2pPr marL="972457" indent="-464457">
              <a:spcBef>
                <a:spcPts val="600"/>
              </a:spcBef>
              <a:buSzPts val="3200"/>
              <a:defRPr sz="3200"/>
            </a:lvl2pPr>
            <a:lvl3pPr marL="1498600" indent="-508000">
              <a:spcBef>
                <a:spcPts val="600"/>
              </a:spcBef>
              <a:buSzPts val="3200"/>
              <a:defRPr sz="3200"/>
            </a:lvl3pPr>
            <a:lvl4pPr marL="2042160" indent="-568960">
              <a:spcBef>
                <a:spcPts val="600"/>
              </a:spcBef>
              <a:buSzPts val="3200"/>
              <a:defRPr sz="3200"/>
            </a:lvl4pPr>
            <a:lvl5pPr marL="2499360" indent="-568960">
              <a:spcBef>
                <a:spcPts val="600"/>
              </a:spcBef>
              <a:buSzPts val="3200"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Google Shape;37;p9"/>
          <p:cNvSpPr txBox="1"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228600" indent="0">
              <a:spcBef>
                <a:spcPts val="200"/>
              </a:spcBef>
              <a:buClrTx/>
              <a:buSzTx/>
              <a:buFontTx/>
              <a:buNone/>
              <a:defRPr sz="1400"/>
            </a:pP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pPr/>
            <a:r>
              <a:t>Title Text</a:t>
            </a:r>
          </a:p>
        </p:txBody>
      </p:sp>
      <p:sp>
        <p:nvSpPr>
          <p:cNvPr id="86" name="Google Shape;40;p10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7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228600" indent="0">
              <a:spcBef>
                <a:spcPts val="200"/>
              </a:spcBef>
              <a:buClrTx/>
              <a:buSzTx/>
              <a:buFontTx/>
              <a:buNone/>
              <a:defRPr sz="1400"/>
            </a:lvl1pPr>
            <a:lvl2pPr marL="228600" indent="457200">
              <a:spcBef>
                <a:spcPts val="200"/>
              </a:spcBef>
              <a:buClrTx/>
              <a:buSzTx/>
              <a:buFontTx/>
              <a:buNone/>
              <a:defRPr sz="1400"/>
            </a:lvl2pPr>
            <a:lvl3pPr marL="228600" indent="914400">
              <a:spcBef>
                <a:spcPts val="200"/>
              </a:spcBef>
              <a:buClrTx/>
              <a:buSzTx/>
              <a:buFontTx/>
              <a:buNone/>
              <a:defRPr sz="1400"/>
            </a:lvl3pPr>
            <a:lvl4pPr marL="228600" indent="1371600">
              <a:spcBef>
                <a:spcPts val="200"/>
              </a:spcBef>
              <a:buClrTx/>
              <a:buSzTx/>
              <a:buFontTx/>
              <a:buNone/>
              <a:defRPr sz="1400"/>
            </a:lvl4pPr>
            <a:lvl5pPr marL="228600" indent="1828800">
              <a:spcBef>
                <a:spcPts val="200"/>
              </a:spcBef>
              <a:buClrTx/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6" name="Body Level One…"/>
          <p:cNvSpPr txBox="1"/>
          <p:nvPr>
            <p:ph type="body" idx="1"/>
          </p:nvPr>
        </p:nvSpPr>
        <p:spPr>
          <a:xfrm rot="5400000">
            <a:off x="1763713" y="-460375"/>
            <a:ext cx="5111751" cy="74168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/>
          <p:nvPr>
            <p:ph type="title"/>
          </p:nvPr>
        </p:nvSpPr>
        <p:spPr>
          <a:xfrm rot="5400000">
            <a:off x="4248151" y="2024063"/>
            <a:ext cx="5688013" cy="187166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5" name="Body Level One…"/>
          <p:cNvSpPr txBox="1"/>
          <p:nvPr>
            <p:ph type="body" idx="1"/>
          </p:nvPr>
        </p:nvSpPr>
        <p:spPr>
          <a:xfrm rot="5400000">
            <a:off x="427831" y="227807"/>
            <a:ext cx="5688013" cy="5464176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539750" y="115887"/>
            <a:ext cx="741680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11187" y="692150"/>
            <a:ext cx="7416801" cy="5111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ransition xmlns:p14="http://schemas.microsoft.com/office/powerpoint/2010/main" spd="med" advClick="1"/>
  <p:txStyles>
    <p:title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80808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80808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80808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80808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80808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80808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80808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80808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80808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3429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80808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80808"/>
          </a:solidFill>
          <a:uFillTx/>
          <a:latin typeface="+mn-lt"/>
          <a:ea typeface="+mn-ea"/>
          <a:cs typeface="+mn-cs"/>
          <a:sym typeface="Arial"/>
        </a:defRPr>
      </a:lvl1pPr>
      <a:lvl2pPr marL="971550" marR="0" indent="-40005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80808"/>
        </a:buClr>
        <a:buSzPts val="2800"/>
        <a:buFont typeface="Arial"/>
        <a:buChar char="–"/>
        <a:tabLst/>
        <a:defRPr b="0" baseline="0" cap="none" i="0" spc="0" strike="noStrike" sz="2800" u="none">
          <a:solidFill>
            <a:srgbClr val="080808"/>
          </a:solidFill>
          <a:uFillTx/>
          <a:latin typeface="+mn-lt"/>
          <a:ea typeface="+mn-ea"/>
          <a:cs typeface="+mn-cs"/>
          <a:sym typeface="Arial"/>
        </a:defRPr>
      </a:lvl2pPr>
      <a:lvl3pPr marL="1428750" marR="0" indent="-40005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80808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80808"/>
          </a:solidFill>
          <a:uFillTx/>
          <a:latin typeface="+mn-lt"/>
          <a:ea typeface="+mn-ea"/>
          <a:cs typeface="+mn-cs"/>
          <a:sym typeface="Arial"/>
        </a:defRPr>
      </a:lvl3pPr>
      <a:lvl4pPr marL="1965960" marR="0" indent="-48006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80808"/>
        </a:buClr>
        <a:buSzPts val="2800"/>
        <a:buFont typeface="Arial"/>
        <a:buChar char="–"/>
        <a:tabLst/>
        <a:defRPr b="0" baseline="0" cap="none" i="0" spc="0" strike="noStrike" sz="2800" u="none">
          <a:solidFill>
            <a:srgbClr val="080808"/>
          </a:solidFill>
          <a:uFillTx/>
          <a:latin typeface="+mn-lt"/>
          <a:ea typeface="+mn-ea"/>
          <a:cs typeface="+mn-cs"/>
          <a:sym typeface="Arial"/>
        </a:defRPr>
      </a:lvl4pPr>
      <a:lvl5pPr marL="2423160" marR="0" indent="-48006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80808"/>
        </a:buClr>
        <a:buSzPts val="2800"/>
        <a:buFont typeface="Arial"/>
        <a:buChar char="»"/>
        <a:tabLst/>
        <a:defRPr b="0" baseline="0" cap="none" i="0" spc="0" strike="noStrike" sz="2800" u="none">
          <a:solidFill>
            <a:srgbClr val="080808"/>
          </a:solidFill>
          <a:uFillTx/>
          <a:latin typeface="+mn-lt"/>
          <a:ea typeface="+mn-ea"/>
          <a:cs typeface="+mn-cs"/>
          <a:sym typeface="Arial"/>
        </a:defRPr>
      </a:lvl5pPr>
      <a:lvl6pPr marL="2880360" marR="0" indent="-48006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80808"/>
        </a:buClr>
        <a:buSzPts val="2800"/>
        <a:buFont typeface="Arial"/>
        <a:buChar char="»"/>
        <a:tabLst/>
        <a:defRPr b="0" baseline="0" cap="none" i="0" spc="0" strike="noStrike" sz="2800" u="none">
          <a:solidFill>
            <a:srgbClr val="080808"/>
          </a:solidFill>
          <a:uFillTx/>
          <a:latin typeface="+mn-lt"/>
          <a:ea typeface="+mn-ea"/>
          <a:cs typeface="+mn-cs"/>
          <a:sym typeface="Arial"/>
        </a:defRPr>
      </a:lvl6pPr>
      <a:lvl7pPr marL="3337559" marR="0" indent="-480059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80808"/>
        </a:buClr>
        <a:buSzPts val="2800"/>
        <a:buFont typeface="Arial"/>
        <a:buChar char="»"/>
        <a:tabLst/>
        <a:defRPr b="0" baseline="0" cap="none" i="0" spc="0" strike="noStrike" sz="2800" u="none">
          <a:solidFill>
            <a:srgbClr val="080808"/>
          </a:solidFill>
          <a:uFillTx/>
          <a:latin typeface="+mn-lt"/>
          <a:ea typeface="+mn-ea"/>
          <a:cs typeface="+mn-cs"/>
          <a:sym typeface="Arial"/>
        </a:defRPr>
      </a:lvl7pPr>
      <a:lvl8pPr marL="3794759" marR="0" indent="-480059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80808"/>
        </a:buClr>
        <a:buSzPts val="2800"/>
        <a:buFont typeface="Arial"/>
        <a:buChar char="»"/>
        <a:tabLst/>
        <a:defRPr b="0" baseline="0" cap="none" i="0" spc="0" strike="noStrike" sz="2800" u="none">
          <a:solidFill>
            <a:srgbClr val="080808"/>
          </a:solidFill>
          <a:uFillTx/>
          <a:latin typeface="+mn-lt"/>
          <a:ea typeface="+mn-ea"/>
          <a:cs typeface="+mn-cs"/>
          <a:sym typeface="Arial"/>
        </a:defRPr>
      </a:lvl8pPr>
      <a:lvl9pPr marL="4251959" marR="0" indent="-480059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80808"/>
        </a:buClr>
        <a:buSzPts val="2800"/>
        <a:buFont typeface="Arial"/>
        <a:buChar char="»"/>
        <a:tabLst/>
        <a:defRPr b="0" baseline="0" cap="none" i="0" spc="0" strike="noStrike" sz="2800" u="none">
          <a:solidFill>
            <a:srgbClr val="080808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jpeg"/><Relationship Id="rId3" Type="http://schemas.openxmlformats.org/officeDocument/2006/relationships/image" Target="../media/image6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jpeg"/><Relationship Id="rId3" Type="http://schemas.openxmlformats.org/officeDocument/2006/relationships/image" Target="../media/image7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hyperlink" Target="https://www.kaggle.com/code/dimitriosroussis/electricity-price-forecasting-with-dnns-eda" TargetMode="External"/><Relationship Id="rId4" Type="http://schemas.openxmlformats.org/officeDocument/2006/relationships/hyperlink" Target="https://machinelearningmastery.com/multivariate-time-series-forecasting-lstms-keras/" TargetMode="External"/><Relationship Id="rId5" Type="http://schemas.openxmlformats.org/officeDocument/2006/relationships/hyperlink" Target="https://www.youtube.com/watch?v=H6du_pfuznE" TargetMode="Externa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52;p13"/>
          <p:cNvSpPr txBox="1"/>
          <p:nvPr>
            <p:ph type="title"/>
          </p:nvPr>
        </p:nvSpPr>
        <p:spPr>
          <a:xfrm>
            <a:off x="3560762" y="5634037"/>
            <a:ext cx="5583238" cy="720726"/>
          </a:xfrm>
          <a:prstGeom prst="rect">
            <a:avLst/>
          </a:prstGeom>
        </p:spPr>
        <p:txBody>
          <a:bodyPr/>
          <a:lstStyle/>
          <a:p>
            <a:pPr defTabSz="859536">
              <a:defRPr b="0" sz="2632">
                <a:solidFill>
                  <a:srgbClr val="038CDB"/>
                </a:solidFill>
                <a:latin typeface="Tahoma Bold"/>
                <a:ea typeface="Tahoma Bold"/>
                <a:cs typeface="Tahoma Bold"/>
                <a:sym typeface="Tahoma Bold"/>
              </a:defRPr>
            </a:pPr>
            <a:r>
              <a:t>Spain Electricity</a:t>
            </a:r>
            <a:r>
              <a:t> Price Prediction</a:t>
            </a:r>
          </a:p>
        </p:txBody>
      </p:sp>
      <p:sp>
        <p:nvSpPr>
          <p:cNvPr id="116" name="Google Shape;53;p13"/>
          <p:cNvSpPr txBox="1"/>
          <p:nvPr>
            <p:ph type="body" sz="quarter" idx="1"/>
          </p:nvPr>
        </p:nvSpPr>
        <p:spPr>
          <a:xfrm>
            <a:off x="3552921" y="6353519"/>
            <a:ext cx="2590801" cy="64770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defRPr>
                <a:solidFill>
                  <a:srgbClr val="038CDB"/>
                </a:solidFill>
              </a:defRPr>
            </a:lvl1pPr>
          </a:lstStyle>
          <a:p>
            <a:pPr/>
            <a:r>
              <a:t>Springboard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77;p17"/>
          <p:cNvSpPr txBox="1"/>
          <p:nvPr>
            <p:ph type="title"/>
          </p:nvPr>
        </p:nvSpPr>
        <p:spPr>
          <a:xfrm>
            <a:off x="1908175" y="188912"/>
            <a:ext cx="7127875" cy="723901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038CDB"/>
                </a:solid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Overview</a:t>
            </a:r>
          </a:p>
        </p:txBody>
      </p:sp>
      <p:sp>
        <p:nvSpPr>
          <p:cNvPr id="119" name="Google Shape;78;p17"/>
          <p:cNvSpPr txBox="1"/>
          <p:nvPr>
            <p:ph type="body" idx="1"/>
          </p:nvPr>
        </p:nvSpPr>
        <p:spPr>
          <a:xfrm>
            <a:off x="1919288" y="1052512"/>
            <a:ext cx="7116762" cy="5616576"/>
          </a:xfrm>
          <a:prstGeom prst="rect">
            <a:avLst/>
          </a:prstGeom>
        </p:spPr>
        <p:txBody>
          <a:bodyPr/>
          <a:lstStyle/>
          <a:p>
            <a:pPr marL="342900" indent="-406400">
              <a:lnSpc>
                <a:spcPct val="200000"/>
              </a:lnSpc>
              <a:spcBef>
                <a:spcPts val="0"/>
              </a:spcBef>
              <a:buClr>
                <a:srgbClr val="000000"/>
              </a:buClr>
              <a:buFont typeface="Verdana"/>
              <a:buChar char="●"/>
              <a:defRPr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Problem Statement</a:t>
            </a:r>
          </a:p>
          <a:p>
            <a:pPr marL="342900" indent="-406400">
              <a:lnSpc>
                <a:spcPct val="200000"/>
              </a:lnSpc>
              <a:spcBef>
                <a:spcPts val="0"/>
              </a:spcBef>
              <a:buClr>
                <a:srgbClr val="000000"/>
              </a:buClr>
              <a:buFont typeface="Verdana"/>
              <a:buChar char="●"/>
              <a:defRPr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Key beneficiaries</a:t>
            </a:r>
          </a:p>
          <a:p>
            <a:pPr marL="342900" indent="-406400">
              <a:lnSpc>
                <a:spcPct val="200000"/>
              </a:lnSpc>
              <a:spcBef>
                <a:spcPts val="0"/>
              </a:spcBef>
              <a:buClr>
                <a:srgbClr val="000000"/>
              </a:buClr>
              <a:buFont typeface="Verdana"/>
              <a:buChar char="●"/>
              <a:defRPr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Reference Data and Analysis</a:t>
            </a:r>
          </a:p>
          <a:p>
            <a:pPr marL="342900" indent="-406400">
              <a:lnSpc>
                <a:spcPct val="200000"/>
              </a:lnSpc>
              <a:spcBef>
                <a:spcPts val="0"/>
              </a:spcBef>
              <a:buClr>
                <a:srgbClr val="000000"/>
              </a:buClr>
              <a:buFont typeface="Verdana"/>
              <a:buChar char="●"/>
              <a:defRPr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Key Features</a:t>
            </a:r>
          </a:p>
          <a:p>
            <a:pPr marL="342900" indent="-406400">
              <a:lnSpc>
                <a:spcPct val="200000"/>
              </a:lnSpc>
              <a:spcBef>
                <a:spcPts val="0"/>
              </a:spcBef>
              <a:buClr>
                <a:srgbClr val="000000"/>
              </a:buClr>
              <a:buFont typeface="Verdana"/>
              <a:buChar char="●"/>
              <a:defRPr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ML Model and Recommendations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65;p15"/>
          <p:cNvSpPr txBox="1"/>
          <p:nvPr>
            <p:ph type="title"/>
          </p:nvPr>
        </p:nvSpPr>
        <p:spPr>
          <a:xfrm>
            <a:off x="473648" y="2242143"/>
            <a:ext cx="7416901" cy="507901"/>
          </a:xfrm>
          <a:prstGeom prst="rect">
            <a:avLst/>
          </a:prstGeom>
        </p:spPr>
        <p:txBody>
          <a:bodyPr/>
          <a:lstStyle>
            <a:lvl1pPr algn="l" defTabSz="768095">
              <a:defRPr sz="3024">
                <a:solidFill>
                  <a:srgbClr val="00B0F0"/>
                </a:solidFill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122" name="Google Shape;66;p15"/>
          <p:cNvSpPr txBox="1"/>
          <p:nvPr>
            <p:ph type="body" sz="half" idx="1"/>
          </p:nvPr>
        </p:nvSpPr>
        <p:spPr>
          <a:xfrm>
            <a:off x="523053" y="2886418"/>
            <a:ext cx="7416901" cy="2928448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50000"/>
              </a:lnSpc>
              <a:buFontTx/>
              <a:buChar char="-"/>
            </a:pPr>
            <a:r>
              <a:t>Predict the price of electricity</a:t>
            </a:r>
          </a:p>
          <a:p>
            <a:pPr marL="0" indent="0">
              <a:lnSpc>
                <a:spcPct val="150000"/>
              </a:lnSpc>
              <a:buFontTx/>
              <a:buChar char="-"/>
            </a:pPr>
            <a:r>
              <a:t>What factors affect the price?</a:t>
            </a:r>
          </a:p>
          <a:p>
            <a:pPr marL="0" indent="0">
              <a:lnSpc>
                <a:spcPct val="150000"/>
              </a:lnSpc>
              <a:buFontTx/>
              <a:buChar char="-"/>
            </a:pPr>
            <a:r>
              <a:t>What is the price trajectory?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1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500"/>
                                        <p:tgtEl>
                                          <p:spTgt spid="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12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3">
            <a:lumOff val="44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58;p14"/>
          <p:cNvSpPr txBox="1"/>
          <p:nvPr>
            <p:ph type="title"/>
          </p:nvPr>
        </p:nvSpPr>
        <p:spPr>
          <a:xfrm>
            <a:off x="917400" y="310738"/>
            <a:ext cx="4680001" cy="649201"/>
          </a:xfrm>
          <a:prstGeom prst="rect">
            <a:avLst/>
          </a:prstGeom>
        </p:spPr>
        <p:txBody>
          <a:bodyPr/>
          <a:lstStyle>
            <a:lvl1pPr algn="l">
              <a:defRPr b="0" sz="2400">
                <a:solidFill>
                  <a:srgbClr val="038CDB"/>
                </a:solid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Who might this help?</a:t>
            </a:r>
          </a:p>
        </p:txBody>
      </p:sp>
      <p:pic>
        <p:nvPicPr>
          <p:cNvPr id="12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354196" y="1203107"/>
            <a:ext cx="3493956" cy="22501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50383" y="1172606"/>
            <a:ext cx="3454250" cy="222059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icture 9" descr="Picture 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498487" y="3722839"/>
            <a:ext cx="3870850" cy="20940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65;p15"/>
          <p:cNvSpPr txBox="1"/>
          <p:nvPr>
            <p:ph type="title"/>
          </p:nvPr>
        </p:nvSpPr>
        <p:spPr>
          <a:xfrm>
            <a:off x="473648" y="2242143"/>
            <a:ext cx="7416901" cy="507901"/>
          </a:xfrm>
          <a:prstGeom prst="rect">
            <a:avLst/>
          </a:prstGeom>
        </p:spPr>
        <p:txBody>
          <a:bodyPr/>
          <a:lstStyle>
            <a:lvl1pPr algn="l" defTabSz="768095">
              <a:defRPr sz="3024">
                <a:solidFill>
                  <a:srgbClr val="00B0F0"/>
                </a:solidFill>
              </a:defRPr>
            </a:lvl1pPr>
          </a:lstStyle>
          <a:p>
            <a:pPr/>
            <a:r>
              <a:t>Data and Analysis Reference</a:t>
            </a:r>
          </a:p>
        </p:txBody>
      </p:sp>
      <p:sp>
        <p:nvSpPr>
          <p:cNvPr id="130" name="Google Shape;66;p15"/>
          <p:cNvSpPr txBox="1"/>
          <p:nvPr>
            <p:ph type="body" sz="half" idx="1"/>
          </p:nvPr>
        </p:nvSpPr>
        <p:spPr>
          <a:xfrm>
            <a:off x="523053" y="2886418"/>
            <a:ext cx="7416901" cy="292844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Hourly energy demand and weather data from Spain- Kaggle</a:t>
            </a:r>
          </a:p>
          <a:p>
            <a:pPr marL="0" indent="0">
              <a:buFontTx/>
              <a:buChar char="-"/>
            </a:pPr>
          </a:p>
          <a:p>
            <a:pPr marL="0" indent="0">
              <a:buFontTx/>
              <a:buChar char="-"/>
            </a:pPr>
            <a:r>
              <a:t>Hourly Energy Data</a:t>
            </a:r>
          </a:p>
          <a:p>
            <a:pPr marL="0" indent="0">
              <a:buSzTx/>
              <a:buNone/>
            </a:pPr>
          </a:p>
          <a:p>
            <a:pPr marL="0" indent="0">
              <a:buFontTx/>
              <a:buChar char="-"/>
            </a:pPr>
            <a:r>
              <a:t>Hourly Weather data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 8"/>
          <p:cNvSpPr txBox="1"/>
          <p:nvPr>
            <p:ph type="title"/>
          </p:nvPr>
        </p:nvSpPr>
        <p:spPr>
          <a:xfrm>
            <a:off x="1839815" y="115887"/>
            <a:ext cx="6116735" cy="508001"/>
          </a:xfrm>
          <a:prstGeom prst="rect">
            <a:avLst/>
          </a:prstGeom>
        </p:spPr>
        <p:txBody>
          <a:bodyPr/>
          <a:lstStyle>
            <a:lvl1pPr algn="l" defTabSz="768095">
              <a:defRPr b="0" sz="3024">
                <a:solidFill>
                  <a:srgbClr val="00B0F0"/>
                </a:solidFill>
              </a:defRPr>
            </a:lvl1pPr>
          </a:lstStyle>
          <a:p>
            <a:pPr/>
            <a:r>
              <a:t>Key Features</a:t>
            </a:r>
          </a:p>
        </p:txBody>
      </p:sp>
      <p:sp>
        <p:nvSpPr>
          <p:cNvPr id="133" name="Text Placeholder 10"/>
          <p:cNvSpPr txBox="1"/>
          <p:nvPr>
            <p:ph type="body" sz="quarter" idx="1"/>
          </p:nvPr>
        </p:nvSpPr>
        <p:spPr>
          <a:xfrm>
            <a:off x="1972017" y="692150"/>
            <a:ext cx="6055971" cy="1874780"/>
          </a:xfrm>
          <a:prstGeom prst="rect">
            <a:avLst/>
          </a:prstGeom>
        </p:spPr>
        <p:txBody>
          <a:bodyPr/>
          <a:lstStyle/>
          <a:p>
            <a:pPr>
              <a:buSzPts val="2400"/>
              <a:defRPr b="1" sz="2400"/>
            </a:pPr>
            <a:r>
              <a:t>Generation</a:t>
            </a:r>
          </a:p>
          <a:p>
            <a:pPr>
              <a:buSzPts val="2400"/>
              <a:defRPr b="1" sz="2400"/>
            </a:pPr>
            <a:r>
              <a:t>Load demand</a:t>
            </a:r>
          </a:p>
          <a:p>
            <a:pPr>
              <a:buSzPts val="2400"/>
              <a:defRPr b="1" sz="2400"/>
            </a:pPr>
            <a:r>
              <a:t>Weather data- pressure, temperature, </a:t>
            </a:r>
          </a:p>
        </p:txBody>
      </p:sp>
      <p:pic>
        <p:nvPicPr>
          <p:cNvPr id="134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7197" y="2832603"/>
            <a:ext cx="7733336" cy="40253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65;p15"/>
          <p:cNvSpPr txBox="1"/>
          <p:nvPr>
            <p:ph type="title"/>
          </p:nvPr>
        </p:nvSpPr>
        <p:spPr>
          <a:xfrm>
            <a:off x="572800" y="2308244"/>
            <a:ext cx="7416801" cy="508001"/>
          </a:xfrm>
          <a:prstGeom prst="rect">
            <a:avLst/>
          </a:prstGeom>
        </p:spPr>
        <p:txBody>
          <a:bodyPr/>
          <a:lstStyle>
            <a:lvl1pPr algn="l" defTabSz="768095">
              <a:defRPr sz="3024">
                <a:solidFill>
                  <a:srgbClr val="00B0F0"/>
                </a:solidFill>
              </a:defRPr>
            </a:lvl1pPr>
          </a:lstStyle>
          <a:p>
            <a:pPr/>
            <a:r>
              <a:t>Hourly price trend</a:t>
            </a:r>
          </a:p>
        </p:txBody>
      </p:sp>
      <p:pic>
        <p:nvPicPr>
          <p:cNvPr id="13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3556" y="3019882"/>
            <a:ext cx="8443742" cy="30173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8"/>
          <p:cNvSpPr txBox="1"/>
          <p:nvPr>
            <p:ph type="title"/>
          </p:nvPr>
        </p:nvSpPr>
        <p:spPr>
          <a:xfrm>
            <a:off x="1839815" y="115887"/>
            <a:ext cx="6116735" cy="508001"/>
          </a:xfrm>
          <a:prstGeom prst="rect">
            <a:avLst/>
          </a:prstGeom>
        </p:spPr>
        <p:txBody>
          <a:bodyPr/>
          <a:lstStyle>
            <a:lvl1pPr algn="l" defTabSz="768095">
              <a:defRPr b="0" sz="3024">
                <a:solidFill>
                  <a:srgbClr val="00B0F0"/>
                </a:solidFill>
              </a:defRPr>
            </a:lvl1pPr>
          </a:lstStyle>
          <a:p>
            <a:pPr/>
            <a:r>
              <a:t>Auto-correlation plots</a:t>
            </a:r>
          </a:p>
        </p:txBody>
      </p:sp>
      <p:sp>
        <p:nvSpPr>
          <p:cNvPr id="140" name="Text Placeholder 5"/>
          <p:cNvSpPr txBox="1"/>
          <p:nvPr>
            <p:ph type="body" sz="quarter" idx="1"/>
          </p:nvPr>
        </p:nvSpPr>
        <p:spPr>
          <a:xfrm>
            <a:off x="1861849" y="692149"/>
            <a:ext cx="6166139" cy="1852748"/>
          </a:xfrm>
          <a:prstGeom prst="rect">
            <a:avLst/>
          </a:prstGeom>
        </p:spPr>
        <p:txBody>
          <a:bodyPr/>
          <a:lstStyle/>
          <a:p>
            <a:pPr/>
            <a:r>
              <a:t>Dependency on previous time lags        </a:t>
            </a:r>
          </a:p>
        </p:txBody>
      </p:sp>
      <p:pic>
        <p:nvPicPr>
          <p:cNvPr id="141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6269" y="2831334"/>
            <a:ext cx="8593158" cy="37744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itle 8"/>
          <p:cNvSpPr txBox="1"/>
          <p:nvPr>
            <p:ph type="title"/>
          </p:nvPr>
        </p:nvSpPr>
        <p:spPr>
          <a:xfrm>
            <a:off x="1839815" y="115887"/>
            <a:ext cx="6116735" cy="508001"/>
          </a:xfrm>
          <a:prstGeom prst="rect">
            <a:avLst/>
          </a:prstGeom>
        </p:spPr>
        <p:txBody>
          <a:bodyPr/>
          <a:lstStyle>
            <a:lvl1pPr algn="l" defTabSz="768095">
              <a:defRPr b="0" sz="3024">
                <a:solidFill>
                  <a:srgbClr val="00B0F0"/>
                </a:solidFill>
              </a:defRPr>
            </a:lvl1pPr>
          </a:lstStyle>
          <a:p>
            <a:pPr/>
            <a:r>
              <a:t>Price seasonality</a:t>
            </a:r>
          </a:p>
        </p:txBody>
      </p:sp>
      <p:sp>
        <p:nvSpPr>
          <p:cNvPr id="144" name="Text Placeholder 5"/>
          <p:cNvSpPr txBox="1"/>
          <p:nvPr>
            <p:ph type="body" sz="quarter" idx="1"/>
          </p:nvPr>
        </p:nvSpPr>
        <p:spPr>
          <a:xfrm>
            <a:off x="1861849" y="692149"/>
            <a:ext cx="6166139" cy="1852748"/>
          </a:xfrm>
          <a:prstGeom prst="rect">
            <a:avLst/>
          </a:prstGeom>
        </p:spPr>
        <p:txBody>
          <a:bodyPr/>
          <a:lstStyle>
            <a:lvl1pPr marL="342900" indent="-228600">
              <a:buSzTx/>
              <a:buNone/>
            </a:lvl1pPr>
          </a:lstStyle>
          <a:p>
            <a:pPr/>
            <a:r>
              <a:t>- Actual Price vs One year Lagged price</a:t>
            </a:r>
          </a:p>
        </p:txBody>
      </p:sp>
      <p:pic>
        <p:nvPicPr>
          <p:cNvPr id="145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4235" y="2977518"/>
            <a:ext cx="8780445" cy="31485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itle 8"/>
          <p:cNvSpPr txBox="1"/>
          <p:nvPr>
            <p:ph type="title"/>
          </p:nvPr>
        </p:nvSpPr>
        <p:spPr>
          <a:xfrm>
            <a:off x="1839815" y="115887"/>
            <a:ext cx="6116735" cy="508001"/>
          </a:xfrm>
          <a:prstGeom prst="rect">
            <a:avLst/>
          </a:prstGeom>
        </p:spPr>
        <p:txBody>
          <a:bodyPr/>
          <a:lstStyle>
            <a:lvl1pPr algn="l" defTabSz="768095">
              <a:defRPr b="0" sz="3024">
                <a:solidFill>
                  <a:srgbClr val="00B0F0"/>
                </a:solidFill>
              </a:defRPr>
            </a:lvl1pPr>
          </a:lstStyle>
          <a:p>
            <a:pPr/>
            <a:r>
              <a:t>AR Model – Price Prediction</a:t>
            </a:r>
          </a:p>
        </p:txBody>
      </p:sp>
      <p:pic>
        <p:nvPicPr>
          <p:cNvPr id="148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97596" y="804230"/>
            <a:ext cx="7346405" cy="48498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itle 8"/>
          <p:cNvSpPr txBox="1"/>
          <p:nvPr>
            <p:ph type="title"/>
          </p:nvPr>
        </p:nvSpPr>
        <p:spPr>
          <a:xfrm>
            <a:off x="-1" y="2234052"/>
            <a:ext cx="3008315" cy="1162051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pPr/>
            <a:r>
              <a:t>Deep Learning</a:t>
            </a:r>
          </a:p>
        </p:txBody>
      </p:sp>
      <p:sp>
        <p:nvSpPr>
          <p:cNvPr id="151" name="Text Placeholder 4"/>
          <p:cNvSpPr txBox="1"/>
          <p:nvPr>
            <p:ph type="body" sz="quarter" idx="1"/>
          </p:nvPr>
        </p:nvSpPr>
        <p:spPr>
          <a:xfrm>
            <a:off x="0" y="3437261"/>
            <a:ext cx="2005072" cy="2622800"/>
          </a:xfrm>
          <a:prstGeom prst="rect">
            <a:avLst/>
          </a:prstGeom>
        </p:spPr>
        <p:txBody>
          <a:bodyPr/>
          <a:lstStyle/>
          <a:p>
            <a:pPr indent="-228600">
              <a:spcBef>
                <a:spcPts val="200"/>
              </a:spcBef>
              <a:buSzPts val="1400"/>
              <a:defRPr b="1" sz="1400"/>
            </a:pPr>
            <a:r>
              <a:t>LSTM – Univariate</a:t>
            </a:r>
          </a:p>
          <a:p>
            <a:pPr marL="228600" indent="0">
              <a:spcBef>
                <a:spcPts val="200"/>
              </a:spcBef>
              <a:buSzTx/>
              <a:buNone/>
              <a:defRPr b="1" sz="1400"/>
            </a:pPr>
          </a:p>
          <a:p>
            <a:pPr indent="-228600">
              <a:spcBef>
                <a:spcPts val="200"/>
              </a:spcBef>
              <a:buSzPts val="1400"/>
              <a:defRPr b="1" sz="1400"/>
            </a:pPr>
            <a:r>
              <a:t>Previous Time Steps = 12</a:t>
            </a:r>
          </a:p>
        </p:txBody>
      </p:sp>
      <p:pic>
        <p:nvPicPr>
          <p:cNvPr id="152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52445" y="308473"/>
            <a:ext cx="7191555" cy="47862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8"/>
          <p:cNvSpPr txBox="1"/>
          <p:nvPr>
            <p:ph type="title"/>
          </p:nvPr>
        </p:nvSpPr>
        <p:spPr>
          <a:xfrm>
            <a:off x="-1" y="2234052"/>
            <a:ext cx="3008315" cy="1162051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pPr/>
            <a:r>
              <a:t>Deep Learning</a:t>
            </a:r>
          </a:p>
        </p:txBody>
      </p:sp>
      <p:sp>
        <p:nvSpPr>
          <p:cNvPr id="155" name="Text Placeholder 4"/>
          <p:cNvSpPr txBox="1"/>
          <p:nvPr>
            <p:ph type="body" sz="quarter" idx="1"/>
          </p:nvPr>
        </p:nvSpPr>
        <p:spPr>
          <a:xfrm>
            <a:off x="0" y="3437261"/>
            <a:ext cx="2005072" cy="2622800"/>
          </a:xfrm>
          <a:prstGeom prst="rect">
            <a:avLst/>
          </a:prstGeom>
        </p:spPr>
        <p:txBody>
          <a:bodyPr/>
          <a:lstStyle/>
          <a:p>
            <a:pPr indent="-228600">
              <a:spcBef>
                <a:spcPts val="200"/>
              </a:spcBef>
              <a:buSzPts val="1400"/>
              <a:defRPr b="1" sz="1400"/>
            </a:pPr>
            <a:r>
              <a:t>LSTM – Multivariate</a:t>
            </a:r>
          </a:p>
          <a:p>
            <a:pPr marL="228600" indent="0">
              <a:spcBef>
                <a:spcPts val="200"/>
              </a:spcBef>
              <a:buSzTx/>
              <a:buNone/>
              <a:defRPr b="1" sz="1400"/>
            </a:pPr>
          </a:p>
          <a:p>
            <a:pPr indent="-228600">
              <a:spcBef>
                <a:spcPts val="200"/>
              </a:spcBef>
              <a:buSzPts val="1400"/>
              <a:defRPr b="1" sz="1400"/>
            </a:pPr>
            <a:r>
              <a:t>15 PCA components – Generation, load, weather</a:t>
            </a:r>
          </a:p>
          <a:p>
            <a:pPr marL="228600" indent="0">
              <a:spcBef>
                <a:spcPts val="200"/>
              </a:spcBef>
              <a:buSzTx/>
              <a:buNone/>
              <a:defRPr b="1" sz="1400"/>
            </a:pPr>
          </a:p>
          <a:p>
            <a:pPr indent="-228600">
              <a:spcBef>
                <a:spcPts val="200"/>
              </a:spcBef>
              <a:buSzPts val="1400"/>
              <a:defRPr b="1" sz="1400"/>
            </a:pPr>
            <a:r>
              <a:t>Previous Time Steps = 1</a:t>
            </a:r>
          </a:p>
        </p:txBody>
      </p:sp>
      <p:pic>
        <p:nvPicPr>
          <p:cNvPr id="156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0019" y="143218"/>
            <a:ext cx="7323981" cy="48744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le 8"/>
          <p:cNvSpPr txBox="1"/>
          <p:nvPr>
            <p:ph type="title"/>
          </p:nvPr>
        </p:nvSpPr>
        <p:spPr>
          <a:xfrm>
            <a:off x="2203374" y="2344220"/>
            <a:ext cx="4384714" cy="116205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00B0F0"/>
                </a:solidFill>
              </a:defRPr>
            </a:lvl1pPr>
          </a:lstStyle>
          <a:p>
            <a:pPr/>
            <a:r>
              <a:t>Model Comparison</a:t>
            </a:r>
          </a:p>
        </p:txBody>
      </p:sp>
      <p:graphicFrame>
        <p:nvGraphicFramePr>
          <p:cNvPr id="159" name="Table 6"/>
          <p:cNvGraphicFramePr/>
          <p:nvPr/>
        </p:nvGraphicFramePr>
        <p:xfrm>
          <a:off x="1645185" y="3677491"/>
          <a:ext cx="6096001" cy="148336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4D4D4D"/>
                          </a:solidFill>
                        </a:rPr>
                        <a:t>Model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4D4D4D"/>
                          </a:solidFill>
                        </a:rPr>
                        <a:t>Metric - RMSE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4D4D4D"/>
                          </a:solidFill>
                        </a:rPr>
                        <a:t>AR Model (2, 0 , 0)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4D4D4D"/>
                          </a:solidFill>
                        </a:rPr>
                        <a:t>2.66 Euro / MWh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4D4D4D"/>
                          </a:solidFill>
                        </a:rPr>
                        <a:t>LSTM Univariate</a:t>
                      </a:r>
                    </a:p>
                  </a:txBody>
                  <a:tcPr marL="45720" marR="45720" marT="45720" marB="45720" anchor="t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4D4D4D"/>
                          </a:solidFill>
                        </a:rPr>
                        <a:t>2.68 Euro / MWh</a:t>
                      </a:r>
                    </a:p>
                  </a:txBody>
                  <a:tcPr marL="45720" marR="45720" marT="45720" marB="45720" anchor="t" anchorCtr="0" horzOverflow="overflow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4D4D4D"/>
                          </a:solidFill>
                        </a:rPr>
                        <a:t>LSTM Multivariate</a:t>
                      </a:r>
                    </a:p>
                  </a:txBody>
                  <a:tcPr marL="45720" marR="45720" marT="45720" marB="45720" anchor="t" anchorCtr="0" horzOverflow="overflow">
                    <a:lnB w="12700">
                      <a:solidFill>
                        <a:srgbClr val="4D4D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4D4D4D"/>
                          </a:solidFill>
                        </a:rPr>
                        <a:t>3.69 Euro / MWh</a:t>
                      </a:r>
                    </a:p>
                  </a:txBody>
                  <a:tcPr marL="45720" marR="45720" marT="45720" marB="45720" anchor="t" anchorCtr="0" horzOverflow="overflow">
                    <a:lnB w="12700">
                      <a:solidFill>
                        <a:srgbClr val="4D4D4D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77;p17"/>
          <p:cNvSpPr txBox="1"/>
          <p:nvPr>
            <p:ph type="title"/>
          </p:nvPr>
        </p:nvSpPr>
        <p:spPr>
          <a:xfrm>
            <a:off x="1908175" y="188912"/>
            <a:ext cx="7127875" cy="723901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038CDB"/>
                </a:solid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Conclusions</a:t>
            </a:r>
          </a:p>
        </p:txBody>
      </p:sp>
      <p:sp>
        <p:nvSpPr>
          <p:cNvPr id="162" name="Google Shape;78;p17"/>
          <p:cNvSpPr txBox="1"/>
          <p:nvPr>
            <p:ph type="body" idx="1"/>
          </p:nvPr>
        </p:nvSpPr>
        <p:spPr>
          <a:xfrm>
            <a:off x="1919288" y="1052512"/>
            <a:ext cx="7116762" cy="5616576"/>
          </a:xfrm>
          <a:prstGeom prst="rect">
            <a:avLst/>
          </a:prstGeom>
        </p:spPr>
        <p:txBody>
          <a:bodyPr/>
          <a:lstStyle/>
          <a:p>
            <a:pPr marL="342900" indent="-4064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Font typeface="Verdana"/>
              <a:buChar char="●"/>
              <a:defRPr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Best Model – AR Model p = 2</a:t>
            </a:r>
          </a:p>
          <a:p>
            <a:pPr marL="342900" indent="-4064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Font typeface="Verdana"/>
              <a:buChar char="●"/>
              <a:defRPr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Key Metric – RMSE</a:t>
            </a:r>
          </a:p>
          <a:p>
            <a:pPr marL="342900" indent="-4064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Font typeface="Verdana"/>
              <a:buChar char="●"/>
              <a:defRPr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Further Research : </a:t>
            </a:r>
          </a:p>
          <a:p>
            <a:pPr marL="406400" indent="-469900">
              <a:lnSpc>
                <a:spcPct val="150000"/>
              </a:lnSpc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   - Increase number of time steps to 24 for Univariate and Multivariate analysis.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77;p17"/>
          <p:cNvSpPr txBox="1"/>
          <p:nvPr>
            <p:ph type="title"/>
          </p:nvPr>
        </p:nvSpPr>
        <p:spPr>
          <a:xfrm>
            <a:off x="1908175" y="188912"/>
            <a:ext cx="7127875" cy="901757"/>
          </a:xfrm>
          <a:prstGeom prst="rect">
            <a:avLst/>
          </a:prstGeom>
        </p:spPr>
        <p:txBody>
          <a:bodyPr/>
          <a:lstStyle>
            <a:lvl1pPr algn="l" defTabSz="786384">
              <a:defRPr b="0" sz="3096">
                <a:solidFill>
                  <a:srgbClr val="038CDB"/>
                </a:solid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Acknowledgements and References</a:t>
            </a:r>
          </a:p>
        </p:txBody>
      </p:sp>
      <p:sp>
        <p:nvSpPr>
          <p:cNvPr id="165" name="Google Shape;78;p17"/>
          <p:cNvSpPr txBox="1"/>
          <p:nvPr>
            <p:ph type="body" idx="1"/>
          </p:nvPr>
        </p:nvSpPr>
        <p:spPr>
          <a:xfrm>
            <a:off x="1919288" y="1052512"/>
            <a:ext cx="7116762" cy="5616576"/>
          </a:xfrm>
          <a:prstGeom prst="rect">
            <a:avLst/>
          </a:prstGeom>
        </p:spPr>
        <p:txBody>
          <a:bodyPr/>
          <a:lstStyle/>
          <a:p>
            <a:pPr marL="342900" indent="-4064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Font typeface="Verdana"/>
              <a:buChar char="●"/>
              <a:defRPr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Kenneth Gil-Pasquel-Springboard mentor</a:t>
            </a:r>
          </a:p>
          <a:p>
            <a:pPr marL="342900" indent="-4064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Font typeface="Verdana"/>
              <a:buChar char="●"/>
              <a:defRPr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rPr u="sng">
                <a:uFill>
                  <a:solidFill>
                    <a:srgbClr val="000000"/>
                  </a:solidFill>
                </a:uFill>
                <a:hlinkClick r:id="rId3" invalidUrl="" action="" tgtFrame="" tooltip="" history="1" highlightClick="0" endSnd="0"/>
              </a:rPr>
              <a:t>Kaggle EDA Analysis</a:t>
            </a:r>
          </a:p>
          <a:p>
            <a:pPr marL="342900" indent="-4064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Font typeface="Verdana"/>
              <a:buChar char="●"/>
              <a:defRPr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rPr u="sng">
                <a:uFill>
                  <a:solidFill>
                    <a:srgbClr val="000000"/>
                  </a:solidFill>
                </a:uFill>
                <a:hlinkClick r:id="rId4" invalidUrl="" action="" tgtFrame="" tooltip="" history="1" highlightClick="0" endSnd="0"/>
              </a:rPr>
              <a:t>Multivariate Time Series Analysis</a:t>
            </a:r>
          </a:p>
          <a:p>
            <a:pPr marL="342900" indent="-4064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Font typeface="Verdana"/>
              <a:buChar char="●"/>
              <a:defRPr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rPr u="sng">
                <a:uFill>
                  <a:solidFill>
                    <a:srgbClr val="000000"/>
                  </a:solidFill>
                </a:uFill>
                <a:hlinkClick r:id="rId5" invalidUrl="" action="" tgtFrame="" tooltip="" history="1" highlightClick="0" endSnd="0"/>
              </a:rPr>
              <a:t>LSTM - Time Series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65;p15"/>
          <p:cNvSpPr txBox="1"/>
          <p:nvPr>
            <p:ph type="title"/>
          </p:nvPr>
        </p:nvSpPr>
        <p:spPr>
          <a:xfrm>
            <a:off x="517715" y="3101458"/>
            <a:ext cx="7416801" cy="508001"/>
          </a:xfrm>
          <a:prstGeom prst="rect">
            <a:avLst/>
          </a:prstGeom>
        </p:spPr>
        <p:txBody>
          <a:bodyPr/>
          <a:lstStyle>
            <a:lvl1pPr algn="ctr" defTabSz="768095">
              <a:defRPr sz="3024">
                <a:solidFill>
                  <a:srgbClr val="00B0F0"/>
                </a:solidFill>
              </a:defRPr>
            </a:lvl1pPr>
          </a:lstStyle>
          <a:p>
            <a:pPr/>
            <a:r>
              <a:t>THANK YOU!!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template">
  <a:themeElements>
    <a:clrScheme name="template">
      <a:dk1>
        <a:srgbClr val="4D4D4D"/>
      </a:dk1>
      <a:lt1>
        <a:srgbClr val="FFFFFF"/>
      </a:lt1>
      <a:dk2>
        <a:srgbClr val="A7A7A7"/>
      </a:dk2>
      <a:lt2>
        <a:srgbClr val="535353"/>
      </a:lt2>
      <a:accent1>
        <a:srgbClr val="C75E00"/>
      </a:accent1>
      <a:accent2>
        <a:srgbClr val="FED416"/>
      </a:accent2>
      <a:accent3>
        <a:srgbClr val="8F8F8F"/>
      </a:accent3>
      <a:accent4>
        <a:srgbClr val="404040"/>
      </a:accent4>
      <a:accent5>
        <a:srgbClr val="E0B6AA"/>
      </a:accent5>
      <a:accent6>
        <a:srgbClr val="E6C013"/>
      </a:accent6>
      <a:hlink>
        <a:srgbClr val="0000FF"/>
      </a:hlink>
      <a:folHlink>
        <a:srgbClr val="FF00FF"/>
      </a:folHlink>
    </a:clrScheme>
    <a:fontScheme name="templat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4D4D4D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4D4D4D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template">
  <a:themeElements>
    <a:clrScheme name="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C75E00"/>
      </a:accent1>
      <a:accent2>
        <a:srgbClr val="FED416"/>
      </a:accent2>
      <a:accent3>
        <a:srgbClr val="8F8F8F"/>
      </a:accent3>
      <a:accent4>
        <a:srgbClr val="404040"/>
      </a:accent4>
      <a:accent5>
        <a:srgbClr val="E0B6AA"/>
      </a:accent5>
      <a:accent6>
        <a:srgbClr val="E6C013"/>
      </a:accent6>
      <a:hlink>
        <a:srgbClr val="0000FF"/>
      </a:hlink>
      <a:folHlink>
        <a:srgbClr val="FF00FF"/>
      </a:folHlink>
    </a:clrScheme>
    <a:fontScheme name="templat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4D4D4D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4D4D4D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