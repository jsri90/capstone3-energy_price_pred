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7" r:id="rId3"/>
    <p:sldId id="258" r:id="rId4"/>
    <p:sldId id="263" r:id="rId5"/>
    <p:sldId id="262" r:id="rId6"/>
    <p:sldId id="260" r:id="rId7"/>
    <p:sldId id="266" r:id="rId8"/>
    <p:sldId id="276" r:id="rId9"/>
    <p:sldId id="277" r:id="rId10"/>
    <p:sldId id="278" r:id="rId11"/>
    <p:sldId id="272" r:id="rId12"/>
    <p:sldId id="279" r:id="rId13"/>
    <p:sldId id="281" r:id="rId14"/>
    <p:sldId id="273" r:id="rId15"/>
    <p:sldId id="274" r:id="rId16"/>
    <p:sldId id="275" r:id="rId17"/>
  </p:sldIdLst>
  <p:sldSz cx="9144000" cy="6858000" type="screen4x3"/>
  <p:notesSz cx="6858000" cy="9144000"/>
  <p:embeddedFontLst>
    <p:embeddedFont>
      <p:font typeface="Tahoma" pitchFamily="34" charset="0"/>
      <p:regular r:id="rId19"/>
      <p:bold r:id="rId20"/>
    </p:embeddedFont>
    <p:embeddedFont>
      <p:font typeface="Verdana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11dc472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11dc472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1111dc4722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11dc472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11dc472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1111dc4722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11dc472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11dc472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1111dc4722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11dc472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11dc472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1111dc4722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11dc4722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111dc4722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1111dc47224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11188" y="309563"/>
            <a:ext cx="5903912" cy="110966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11188" y="1196975"/>
            <a:ext cx="5903912" cy="6969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None/>
              <a:defRPr sz="2400" b="1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39750" y="115888"/>
            <a:ext cx="74168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11188" y="692150"/>
            <a:ext cx="7416800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39750" y="115888"/>
            <a:ext cx="74168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11188" y="692150"/>
            <a:ext cx="3632200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395788" y="692150"/>
            <a:ext cx="3632200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80808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39750" y="115888"/>
            <a:ext cx="74168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080808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080808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080808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80808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080808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080808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539750" y="115888"/>
            <a:ext cx="74168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 rot="5400000">
            <a:off x="1763713" y="-460375"/>
            <a:ext cx="5111750" cy="74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 rot="5400000">
            <a:off x="4248151" y="2024063"/>
            <a:ext cx="5688012" cy="187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 rot="5400000">
            <a:off x="427831" y="227807"/>
            <a:ext cx="5688012" cy="546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80808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9750" y="115888"/>
            <a:ext cx="74168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11188" y="692150"/>
            <a:ext cx="7416800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H6du_pfuznE" TargetMode="External"/><Relationship Id="rId5" Type="http://schemas.openxmlformats.org/officeDocument/2006/relationships/hyperlink" Target="https://machinelearningmastery.com/multivariate-time-series-forecasting-lstms-keras/" TargetMode="External"/><Relationship Id="rId4" Type="http://schemas.openxmlformats.org/officeDocument/2006/relationships/hyperlink" Target="https://www.kaggle.com/code/dimitriosroussis/electricity-price-forecasting-with-dnns-eda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3560762" y="5634038"/>
            <a:ext cx="5583237" cy="72072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 smtClean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Spain Electricity</a:t>
            </a:r>
            <a:r>
              <a:rPr lang="ru-RU" sz="2800" dirty="0" smtClean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ru-RU" sz="2800" dirty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Price Prediction</a:t>
            </a:r>
            <a:endParaRPr sz="2800">
              <a:solidFill>
                <a:srgbClr val="038CD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3552921" y="6353519"/>
            <a:ext cx="2590800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38CDB"/>
              </a:buClr>
              <a:buSzPts val="2400"/>
              <a:buFont typeface="Arial"/>
              <a:buNone/>
            </a:pPr>
            <a:r>
              <a:rPr lang="ru-RU" dirty="0">
                <a:solidFill>
                  <a:srgbClr val="038CDB"/>
                </a:solidFill>
              </a:rPr>
              <a:t>Springboard</a:t>
            </a:r>
            <a:endParaRPr>
              <a:solidFill>
                <a:srgbClr val="038CD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1908175" y="188913"/>
            <a:ext cx="712787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dirty="0" smtClean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Overview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1919288" y="1052513"/>
            <a:ext cx="7116762" cy="561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Problem Statement</a:t>
            </a:r>
          </a:p>
          <a:p>
            <a:pPr marL="342900" lvl="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Key beneficiaries</a:t>
            </a:r>
          </a:p>
          <a:p>
            <a:pPr marL="342900" lvl="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Reference Data and </a:t>
            </a: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Analysis</a:t>
            </a:r>
          </a:p>
          <a:p>
            <a:pPr marL="342900" lvl="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IN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Key Features</a:t>
            </a:r>
            <a:endParaRPr lang="en-US" dirty="0" smtClean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406400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ML </a:t>
            </a: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Model and </a:t>
            </a: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Recommendations</a:t>
            </a:r>
            <a:endParaRPr lang="en-US" dirty="0" smtClean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165100" algn="l" rtl="0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800"/>
              <a:buFont typeface="Arial"/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73649" y="2242144"/>
            <a:ext cx="7416900" cy="507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B0F0"/>
                </a:solidFill>
              </a:rPr>
              <a:t>Problem Statement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23053" y="2886419"/>
            <a:ext cx="7416900" cy="29284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FontTx/>
              <a:buChar char="-"/>
            </a:pPr>
            <a:r>
              <a:rPr lang="en-IN" dirty="0" smtClean="0"/>
              <a:t>Predict the price of electricity</a:t>
            </a:r>
            <a:endParaRPr lang="en-IN" dirty="0" smtClean="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FontTx/>
              <a:buChar char="-"/>
            </a:pPr>
            <a:r>
              <a:rPr lang="en-IN" dirty="0" smtClean="0"/>
              <a:t>What factors affect the price?</a:t>
            </a:r>
          </a:p>
          <a:p>
            <a:pPr marL="0" indent="0">
              <a:lnSpc>
                <a:spcPct val="150000"/>
              </a:lnSpc>
              <a:buFontTx/>
              <a:buChar char="-"/>
            </a:pPr>
            <a:r>
              <a:rPr lang="en-IN" dirty="0" smtClean="0"/>
              <a:t>What is the price trajectory?</a:t>
            </a: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lang="en-IN" dirty="0" smtClean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FontTx/>
              <a:buChar char="-"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917400" y="310738"/>
            <a:ext cx="4680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Who might this help?</a:t>
            </a:r>
            <a:endParaRPr sz="2400">
              <a:solidFill>
                <a:srgbClr val="038CD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" name="Picture 4" descr="doe-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197" y="1203108"/>
            <a:ext cx="3493954" cy="2250106"/>
          </a:xfrm>
          <a:prstGeom prst="rect">
            <a:avLst/>
          </a:prstGeom>
        </p:spPr>
      </p:pic>
      <p:pic>
        <p:nvPicPr>
          <p:cNvPr id="7" name="Picture 6" descr="Electric power marke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84" y="1172606"/>
            <a:ext cx="3454249" cy="2220589"/>
          </a:xfrm>
          <a:prstGeom prst="rect">
            <a:avLst/>
          </a:prstGeom>
        </p:spPr>
      </p:pic>
      <p:pic>
        <p:nvPicPr>
          <p:cNvPr id="10" name="Picture 9" descr="consum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487" y="3722840"/>
            <a:ext cx="3870849" cy="20940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73649" y="2242144"/>
            <a:ext cx="7416900" cy="507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B0F0"/>
                </a:solidFill>
              </a:rPr>
              <a:t>Data and Analysis Reference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23053" y="2886419"/>
            <a:ext cx="7416900" cy="29284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None/>
            </a:pPr>
            <a:r>
              <a:rPr lang="en-IN" dirty="0" smtClean="0"/>
              <a:t>Hourly energy demand and weather data from Spain- Kaggle</a:t>
            </a:r>
            <a:endParaRPr lang="en-US" dirty="0" smtClean="0"/>
          </a:p>
          <a:p>
            <a:pPr marL="0" lvl="0" indent="0">
              <a:buFontTx/>
              <a:buChar char="-"/>
            </a:pPr>
            <a:endParaRPr lang="en-IN" dirty="0" smtClean="0"/>
          </a:p>
          <a:p>
            <a:pPr marL="0" lvl="0" indent="0">
              <a:buFontTx/>
              <a:buChar char="-"/>
            </a:pPr>
            <a:r>
              <a:rPr lang="en-IN" dirty="0" smtClean="0"/>
              <a:t>Hourly Energy Data</a:t>
            </a:r>
          </a:p>
          <a:p>
            <a:pPr marL="0" lvl="0" indent="0">
              <a:buNone/>
            </a:pPr>
            <a:endParaRPr lang="en-IN" dirty="0" smtClean="0"/>
          </a:p>
          <a:p>
            <a:pPr marL="0" lvl="0" indent="0">
              <a:buFontTx/>
              <a:buChar char="-"/>
            </a:pPr>
            <a:r>
              <a:rPr lang="en-IN" dirty="0" smtClean="0"/>
              <a:t>Hourly Weather data</a:t>
            </a: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839816" y="115888"/>
            <a:ext cx="6116733" cy="508000"/>
          </a:xfrm>
        </p:spPr>
        <p:txBody>
          <a:bodyPr/>
          <a:lstStyle/>
          <a:p>
            <a:pPr algn="l"/>
            <a:r>
              <a:rPr lang="en-IN" b="0" dirty="0" smtClean="0">
                <a:solidFill>
                  <a:srgbClr val="00B0F0"/>
                </a:solidFill>
              </a:rPr>
              <a:t>Key </a:t>
            </a:r>
            <a:r>
              <a:rPr lang="en-IN" b="0" dirty="0" smtClean="0">
                <a:solidFill>
                  <a:srgbClr val="00B0F0"/>
                </a:solidFill>
              </a:rPr>
              <a:t>Features</a:t>
            </a:r>
            <a:endParaRPr lang="en-US" b="0" dirty="0">
              <a:solidFill>
                <a:srgbClr val="00B0F0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972018" y="692150"/>
            <a:ext cx="6055969" cy="187478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sz="2400" b="1" dirty="0" smtClean="0"/>
              <a:t>Generation</a:t>
            </a:r>
          </a:p>
          <a:p>
            <a:pPr>
              <a:buFont typeface="Arial" pitchFamily="34" charset="0"/>
              <a:buChar char="•"/>
            </a:pPr>
            <a:r>
              <a:rPr lang="en-IN" sz="2400" b="1" dirty="0" smtClean="0"/>
              <a:t>Load demand</a:t>
            </a:r>
          </a:p>
          <a:p>
            <a:pPr>
              <a:buFont typeface="Arial" pitchFamily="34" charset="0"/>
              <a:buChar char="•"/>
            </a:pPr>
            <a:r>
              <a:rPr lang="en-IN" sz="2400" b="1" dirty="0" smtClean="0"/>
              <a:t>Weather data- pressure, temperature, </a:t>
            </a:r>
            <a:endParaRPr lang="en-IN" sz="2400" b="1" dirty="0" smtClean="0"/>
          </a:p>
        </p:txBody>
      </p:sp>
      <p:pic>
        <p:nvPicPr>
          <p:cNvPr id="5" name="Picture 4" descr="pca-explained 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98" y="2832603"/>
            <a:ext cx="7733334" cy="4025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572801" y="2308245"/>
            <a:ext cx="7416800" cy="5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B0F0"/>
                </a:solidFill>
              </a:rPr>
              <a:t>Hourly price trend</a:t>
            </a:r>
            <a:endParaRPr>
              <a:solidFill>
                <a:srgbClr val="00B0F0"/>
              </a:solidFill>
            </a:endParaRPr>
          </a:p>
        </p:txBody>
      </p:sp>
      <p:pic>
        <p:nvPicPr>
          <p:cNvPr id="6" name="Picture 5" descr="hourly price- 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56" y="3019883"/>
            <a:ext cx="8443741" cy="30173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839816" y="115888"/>
            <a:ext cx="6116733" cy="508000"/>
          </a:xfrm>
        </p:spPr>
        <p:txBody>
          <a:bodyPr/>
          <a:lstStyle/>
          <a:p>
            <a:pPr algn="l"/>
            <a:r>
              <a:rPr lang="en-IN" b="0" dirty="0" smtClean="0">
                <a:solidFill>
                  <a:srgbClr val="00B0F0"/>
                </a:solidFill>
              </a:rPr>
              <a:t>Auto-correlation plots</a:t>
            </a:r>
            <a:endParaRPr lang="en-US" b="0" dirty="0">
              <a:solidFill>
                <a:srgbClr val="00B0F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861850" y="692150"/>
            <a:ext cx="6166137" cy="1852746"/>
          </a:xfrm>
        </p:spPr>
        <p:txBody>
          <a:bodyPr/>
          <a:lstStyle/>
          <a:p>
            <a:r>
              <a:rPr lang="en-IN" dirty="0" smtClean="0"/>
              <a:t>Dependency on previous time lags        </a:t>
            </a:r>
            <a:endParaRPr lang="en-US" dirty="0"/>
          </a:p>
        </p:txBody>
      </p:sp>
      <p:pic>
        <p:nvPicPr>
          <p:cNvPr id="7" name="Picture 6" descr="plot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70" y="2831335"/>
            <a:ext cx="8593157" cy="3774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839816" y="115888"/>
            <a:ext cx="6116733" cy="508000"/>
          </a:xfrm>
        </p:spPr>
        <p:txBody>
          <a:bodyPr/>
          <a:lstStyle/>
          <a:p>
            <a:pPr algn="l"/>
            <a:r>
              <a:rPr lang="en-IN" b="0" dirty="0" smtClean="0">
                <a:solidFill>
                  <a:srgbClr val="00B0F0"/>
                </a:solidFill>
              </a:rPr>
              <a:t>Price seasonality</a:t>
            </a:r>
            <a:endParaRPr lang="en-US" b="0" dirty="0">
              <a:solidFill>
                <a:srgbClr val="00B0F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861850" y="692150"/>
            <a:ext cx="6166137" cy="1852746"/>
          </a:xfrm>
        </p:spPr>
        <p:txBody>
          <a:bodyPr/>
          <a:lstStyle/>
          <a:p>
            <a:pPr>
              <a:buNone/>
            </a:pPr>
            <a:r>
              <a:rPr lang="en-IN" dirty="0" smtClean="0"/>
              <a:t>- Actual Price </a:t>
            </a:r>
            <a:r>
              <a:rPr lang="en-IN" dirty="0" err="1" smtClean="0"/>
              <a:t>vs</a:t>
            </a:r>
            <a:r>
              <a:rPr lang="en-IN" dirty="0" smtClean="0"/>
              <a:t> One year Lagged price</a:t>
            </a:r>
            <a:endParaRPr lang="en-US" dirty="0"/>
          </a:p>
        </p:txBody>
      </p:sp>
      <p:pic>
        <p:nvPicPr>
          <p:cNvPr id="5" name="Picture 4" descr="Actual price -one year lagged 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36" y="2977518"/>
            <a:ext cx="8780443" cy="31485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839816" y="115888"/>
            <a:ext cx="6116733" cy="508000"/>
          </a:xfrm>
        </p:spPr>
        <p:txBody>
          <a:bodyPr/>
          <a:lstStyle/>
          <a:p>
            <a:pPr algn="l"/>
            <a:r>
              <a:rPr lang="en-IN" b="0" dirty="0" smtClean="0">
                <a:solidFill>
                  <a:srgbClr val="00B0F0"/>
                </a:solidFill>
              </a:rPr>
              <a:t>AR Model – Price Prediction</a:t>
            </a:r>
            <a:endParaRPr lang="en-US" b="0" dirty="0">
              <a:solidFill>
                <a:srgbClr val="00B0F0"/>
              </a:solidFill>
            </a:endParaRPr>
          </a:p>
        </p:txBody>
      </p:sp>
      <p:pic>
        <p:nvPicPr>
          <p:cNvPr id="7" name="Picture 6" descr="actual price vs forecas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596" y="804231"/>
            <a:ext cx="7346404" cy="48498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2234052"/>
            <a:ext cx="3008313" cy="1162050"/>
          </a:xfrm>
        </p:spPr>
        <p:txBody>
          <a:bodyPr/>
          <a:lstStyle/>
          <a:p>
            <a:pPr algn="l"/>
            <a:r>
              <a:rPr lang="en-IN" b="0" dirty="0" smtClean="0"/>
              <a:t>Deep Learning</a:t>
            </a:r>
            <a:endParaRPr lang="en-US" b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1" y="3437262"/>
            <a:ext cx="2005070" cy="2622799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b="1" dirty="0" smtClean="0"/>
              <a:t>LSTM – Univariate</a:t>
            </a:r>
          </a:p>
          <a:p>
            <a:endParaRPr lang="en-IN" b="1" dirty="0" smtClean="0"/>
          </a:p>
          <a:p>
            <a:pPr>
              <a:buFont typeface="Arial" pitchFamily="34" charset="0"/>
              <a:buChar char="•"/>
            </a:pPr>
            <a:r>
              <a:rPr lang="en-IN" b="1" dirty="0" smtClean="0"/>
              <a:t>Previous Time Steps = 12</a:t>
            </a:r>
            <a:endParaRPr lang="en-IN" b="1" dirty="0" smtClean="0"/>
          </a:p>
          <a:p>
            <a:endParaRPr lang="en-US" b="1" dirty="0" smtClean="0"/>
          </a:p>
          <a:p>
            <a:endParaRPr lang="en-US" dirty="0"/>
          </a:p>
        </p:txBody>
      </p:sp>
      <p:pic>
        <p:nvPicPr>
          <p:cNvPr id="7" name="Picture 6" descr="LSTM-model2-RMSE -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446" y="308473"/>
            <a:ext cx="7191554" cy="4786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2234052"/>
            <a:ext cx="3008313" cy="1162050"/>
          </a:xfrm>
        </p:spPr>
        <p:txBody>
          <a:bodyPr/>
          <a:lstStyle/>
          <a:p>
            <a:pPr algn="l"/>
            <a:r>
              <a:rPr lang="en-IN" b="0" dirty="0" smtClean="0"/>
              <a:t>Deep Learning</a:t>
            </a:r>
            <a:endParaRPr lang="en-US" b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1" y="3437262"/>
            <a:ext cx="2005070" cy="2622799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b="1" dirty="0" smtClean="0"/>
              <a:t>LSTM – Multivariate</a:t>
            </a:r>
          </a:p>
          <a:p>
            <a:endParaRPr lang="en-IN" b="1" dirty="0" smtClean="0"/>
          </a:p>
          <a:p>
            <a:pPr>
              <a:buFont typeface="Arial" pitchFamily="34" charset="0"/>
              <a:buChar char="•"/>
            </a:pPr>
            <a:r>
              <a:rPr lang="en-IN" b="1" dirty="0" smtClean="0"/>
              <a:t>15 PCA components – Generation, load, weather</a:t>
            </a:r>
          </a:p>
          <a:p>
            <a:endParaRPr lang="en-IN" b="1" dirty="0" smtClean="0"/>
          </a:p>
          <a:p>
            <a:pPr>
              <a:buFont typeface="Arial" pitchFamily="34" charset="0"/>
              <a:buChar char="•"/>
            </a:pPr>
            <a:r>
              <a:rPr lang="en-IN" b="1" dirty="0" smtClean="0"/>
              <a:t>Previous Time Steps = 1</a:t>
            </a:r>
            <a:endParaRPr lang="en-IN" b="1" dirty="0" smtClean="0"/>
          </a:p>
          <a:p>
            <a:endParaRPr lang="en-US" b="1" dirty="0" smtClean="0"/>
          </a:p>
          <a:p>
            <a:endParaRPr lang="en-US" dirty="0"/>
          </a:p>
        </p:txBody>
      </p:sp>
      <p:pic>
        <p:nvPicPr>
          <p:cNvPr id="6" name="Picture 5" descr="LSTM - RMSE- model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020" y="143218"/>
            <a:ext cx="7323980" cy="4874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title"/>
          </p:nvPr>
        </p:nvSpPr>
        <p:spPr>
          <a:xfrm>
            <a:off x="2203374" y="2344220"/>
            <a:ext cx="4384713" cy="1162050"/>
          </a:xfrm>
        </p:spPr>
        <p:txBody>
          <a:bodyPr/>
          <a:lstStyle/>
          <a:p>
            <a:pPr algn="ctr"/>
            <a:r>
              <a:rPr lang="en-IN" sz="3600" dirty="0" smtClean="0">
                <a:solidFill>
                  <a:srgbClr val="00B0F0"/>
                </a:solidFill>
              </a:rPr>
              <a:t>Model Comparison</a:t>
            </a:r>
            <a:endParaRPr lang="en-US" sz="3600" dirty="0">
              <a:solidFill>
                <a:srgbClr val="00B0F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185" y="3677492"/>
          <a:ext cx="609600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Metric - RMSE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AR Model (2, 0 , 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2.66 Euro / MWh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LSTM</a:t>
                      </a:r>
                      <a:r>
                        <a:rPr lang="en-IN" baseline="0" dirty="0" smtClean="0"/>
                        <a:t> Univariate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2.68 Euro / MWh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LSTM Multivariate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3.69 Euro / MWh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1908175" y="188913"/>
            <a:ext cx="712787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dirty="0" smtClean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Conclusions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1919288" y="1052513"/>
            <a:ext cx="7116762" cy="561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Best Model – </a:t>
            </a: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 Model p = 2</a:t>
            </a:r>
            <a:endParaRPr lang="en-US" dirty="0" smtClean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US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Key Metric – RMSE</a:t>
            </a: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IN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Further Research : </a:t>
            </a: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r>
              <a:rPr lang="en-IN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IN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- Increase number of time steps to 24 for Univariate and Multivariate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1908175" y="188912"/>
            <a:ext cx="7127875" cy="90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dirty="0" smtClean="0">
                <a:solidFill>
                  <a:srgbClr val="038CDB"/>
                </a:solidFill>
                <a:latin typeface="Tahoma"/>
                <a:ea typeface="Tahoma"/>
                <a:cs typeface="Tahoma"/>
                <a:sym typeface="Tahoma"/>
              </a:rPr>
              <a:t>Acknowledgements and References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1919288" y="1052513"/>
            <a:ext cx="7116762" cy="561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IN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Kenneth Gill Pascal</a:t>
            </a:r>
            <a:r>
              <a:rPr lang="en-IN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-Springboard mentor</a:t>
            </a: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IN" dirty="0" smtClean="0">
                <a:solidFill>
                  <a:schemeClr val="bg2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Kaggle EDA Analysis</a:t>
            </a:r>
            <a:endParaRPr lang="en-IN" dirty="0" smtClean="0">
              <a:solidFill>
                <a:schemeClr val="bg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IN" dirty="0" smtClean="0">
                <a:solidFill>
                  <a:schemeClr val="bg2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Multivariate Time Series Analysis</a:t>
            </a:r>
            <a:endParaRPr lang="en-IN" dirty="0" smtClean="0">
              <a:solidFill>
                <a:schemeClr val="bg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Font typeface="Verdana"/>
              <a:buChar char="●"/>
            </a:pPr>
            <a:r>
              <a:rPr lang="en-IN" dirty="0" smtClean="0">
                <a:solidFill>
                  <a:schemeClr val="bg2"/>
                </a:solidFill>
                <a:latin typeface="Verdana"/>
                <a:ea typeface="Verdana"/>
                <a:cs typeface="Verdana"/>
                <a:sym typeface="Verdana"/>
                <a:hlinkClick r:id="rId6"/>
              </a:rPr>
              <a:t>LSTM - Time Series Analysis</a:t>
            </a:r>
            <a:endParaRPr lang="en-IN" dirty="0" smtClean="0">
              <a:solidFill>
                <a:schemeClr val="bg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lvl="0" indent="-406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000"/>
              <a:buNone/>
            </a:pPr>
            <a:endParaRPr lang="en-IN" dirty="0" smtClean="0">
              <a:ln>
                <a:solidFill>
                  <a:schemeClr val="bg2"/>
                </a:solidFill>
              </a:ln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517716" y="3101459"/>
            <a:ext cx="7416800" cy="5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>
                <a:solidFill>
                  <a:srgbClr val="00B0F0"/>
                </a:solidFill>
              </a:rPr>
              <a:t>THANK YOU!!</a:t>
            </a:r>
            <a:endParaRPr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Custom 1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0000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217</Words>
  <PresentationFormat>On-screen Show (4:3)</PresentationFormat>
  <Paragraphs>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Tahoma</vt:lpstr>
      <vt:lpstr>Verdana</vt:lpstr>
      <vt:lpstr>template</vt:lpstr>
      <vt:lpstr>Spain Electricity Price Prediction</vt:lpstr>
      <vt:lpstr>Overview</vt:lpstr>
      <vt:lpstr>Problem Statement</vt:lpstr>
      <vt:lpstr>Who might this help?</vt:lpstr>
      <vt:lpstr>Data and Analysis Reference</vt:lpstr>
      <vt:lpstr>Key Features</vt:lpstr>
      <vt:lpstr>Hourly price trend</vt:lpstr>
      <vt:lpstr>Auto-correlation plots</vt:lpstr>
      <vt:lpstr>Price seasonality</vt:lpstr>
      <vt:lpstr>AR Model – Price Prediction</vt:lpstr>
      <vt:lpstr>Deep Learning</vt:lpstr>
      <vt:lpstr>Deep Learning</vt:lpstr>
      <vt:lpstr>Model Comparison</vt:lpstr>
      <vt:lpstr>Conclusions</vt:lpstr>
      <vt:lpstr>Acknowledgements and References</vt:lpstr>
      <vt:lpstr>THANK YOU!!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System Price Prediction</dc:title>
  <dc:creator>Srikrishnan Jagannathan</dc:creator>
  <cp:lastModifiedBy>Srikrishnan Jagannathan</cp:lastModifiedBy>
  <cp:revision>40</cp:revision>
  <dcterms:modified xsi:type="dcterms:W3CDTF">2022-03-20T21:45:53Z</dcterms:modified>
</cp:coreProperties>
</file>